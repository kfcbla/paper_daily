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88952" cy="2331720"/>
          </a:xfrm>
          <a:prstGeom prst="rect">
            <a:avLst/>
          </a:prstGeom>
          <a:solidFill>
            <a:srgbClr val="0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生成式 AI 论文深度日报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290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00C8FF"/>
                </a:solidFill>
              </a:rPr>
              <a:t>2026 年 4 月 27 日  ·  6 篇论文深度洞察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41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A9BBB"/>
                </a:solidFill>
              </a:rPr>
              <a:t>Text-to-Image  ·  Text-to-Video  ·  Unified Generation  ·  World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4846320"/>
            <a:ext cx="2194560" cy="32918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1328" y="4864608"/>
            <a:ext cx="20665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Google DeepMind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40" y="4846320"/>
            <a:ext cx="2194560" cy="329184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1648" y="4864608"/>
            <a:ext cx="20665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ByteDance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4846320"/>
            <a:ext cx="2194560" cy="329184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4864608"/>
            <a:ext cx="20665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Tencent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4846320"/>
            <a:ext cx="2194560" cy="329184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62288" y="4864608"/>
            <a:ext cx="20665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VITA-MLLM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8A9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0C8FF"/>
                </a:solidFill>
              </a:rPr>
              <a:t>今日论文全景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BBB"/>
                </a:solidFill>
              </a:rPr>
              <a:t>Claude Code + WebSearch  ·  2026-04-27  ·  数据以原始来源为准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822960"/>
            <a:ext cx="3794760" cy="246888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822960"/>
            <a:ext cx="73152" cy="24688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3192" y="914400"/>
            <a:ext cx="713232" cy="24688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32688"/>
            <a:ext cx="5852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T2I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932688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00C8FF"/>
                </a:solidFill>
              </a:rPr>
              <a:t>2604.20329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23444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Image Generators are
Generalist Vision Learners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05740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BB"/>
                </a:solidFill>
              </a:rPr>
              <a:t>Google DeepMind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2359152"/>
            <a:ext cx="3520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0C8FF"/>
                </a:solidFill>
              </a:rPr>
              <a:t>何恺明 &amp; 谢赛宁主导
生成=预训练范式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51376" y="822960"/>
            <a:ext cx="3794760" cy="246888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51376" y="822960"/>
            <a:ext cx="73152" cy="246888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914400"/>
            <a:ext cx="713232" cy="246888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932688"/>
            <a:ext cx="5852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T2I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7416" y="932688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C200"/>
                </a:solidFill>
              </a:rPr>
              <a:t>2604.20902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123444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Frequency-Forcing:
Soft Frequency Guidance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205740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BB"/>
                </a:solidFill>
              </a:rPr>
              <a:t>独立研究者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2359152"/>
            <a:ext cx="3520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C200"/>
                </a:solidFill>
              </a:rPr>
              <a:t>扩散频率显式引导
低频→高频生成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74152" y="822960"/>
            <a:ext cx="3794760" cy="246888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74152" y="822960"/>
            <a:ext cx="73152" cy="246888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38744" y="914400"/>
            <a:ext cx="713232" cy="246888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932688"/>
            <a:ext cx="5852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T2V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932688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00FFAA"/>
                </a:solidFill>
              </a:rPr>
              <a:t>2604.14148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8744" y="123444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Seedance 2.0:
World Complexity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205740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BB"/>
                </a:solidFill>
              </a:rPr>
              <a:t>ByteDance Seed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8744" y="2359152"/>
            <a:ext cx="3520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0FFAA"/>
                </a:solidFill>
              </a:rPr>
              <a:t>DiT + Causal 3D-VAE
音视频联合生成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3401568"/>
            <a:ext cx="3794760" cy="246888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" y="3401568"/>
            <a:ext cx="73152" cy="246888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3192" y="3493008"/>
            <a:ext cx="713232" cy="246888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511296"/>
            <a:ext cx="5852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T2V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3511296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9F43"/>
                </a:solidFill>
              </a:rPr>
              <a:t>2604.21221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" y="3813048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Sparse Forcing:
Sparse Attn Diffusion Video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" y="463600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BB"/>
                </a:solidFill>
              </a:rPr>
              <a:t>学术联合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" y="4937760"/>
            <a:ext cx="3520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9F43"/>
                </a:solidFill>
              </a:rPr>
              <a:t>原生可训练稀疏注意力
自回归扩散视频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51376" y="3401568"/>
            <a:ext cx="3794760" cy="246888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51376" y="3401568"/>
            <a:ext cx="73152" cy="24688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15968" y="3493008"/>
            <a:ext cx="713232" cy="24688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79976" y="3511296"/>
            <a:ext cx="5852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Unified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57416" y="3511296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B86FC"/>
                </a:solidFill>
              </a:rPr>
              <a:t>2603.06577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15968" y="3813048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Omni-Diffusion:
Masked Discrete Diffusion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15968" y="463600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BB"/>
                </a:solidFill>
              </a:rPr>
              <a:t>VITA-MLLM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15968" y="4937760"/>
            <a:ext cx="3520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86FC"/>
                </a:solidFill>
              </a:rPr>
              <a:t>首个全离散掩码扩散
any-to-any 多模态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74152" y="3401568"/>
            <a:ext cx="3794760" cy="246888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74152" y="3401568"/>
            <a:ext cx="73152" cy="24688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38744" y="3493008"/>
            <a:ext cx="713232" cy="2468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02752" y="3511296"/>
            <a:ext cx="5852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World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80192" y="3511296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6B6B"/>
                </a:solidFill>
              </a:rPr>
              <a:t>2604.14268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8744" y="3813048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HY-World 2.0:
3D World Model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38744" y="463600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BB"/>
                </a:solidFill>
              </a:rPr>
              <a:t>Tencent 混元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38744" y="4937760"/>
            <a:ext cx="3520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6B6B"/>
                </a:solidFill>
              </a:rPr>
              <a:t>四阶段3D世界生成
开源追平 Marble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BBB"/>
                </a:solidFill>
              </a:rPr>
              <a:t>Claude Code + WebSearch  ·  2026-04-27  ·  数据以原始来源为准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88952" cy="749808"/>
          </a:xfrm>
          <a:prstGeom prst="rect">
            <a:avLst/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822960" cy="2743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82880"/>
            <a:ext cx="694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T2I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09728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Image Generators are Generalist Vision Learners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9377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BB"/>
                </a:solidFill>
              </a:rPr>
              <a:t>图像生成模型是通用视觉学习器  ·  Vision Banana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371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C8FF"/>
                </a:solidFill>
              </a:rPr>
              <a:t>Google DeepMind  (何恺明 &amp; 谢赛宁)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43891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BB"/>
                </a:solidFill>
              </a:rPr>
              <a:t>arXiv: 2604.20329  ·  2026-04-22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914400"/>
            <a:ext cx="3566160" cy="53949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914400"/>
            <a:ext cx="3566160" cy="34747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9509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WHAT · 核心贡献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1371600"/>
            <a:ext cx="3364992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首次证明：图像生成预训练对视觉表征的作用等价于 LLM 的语言预训练
• 仅通过轻量级指令微调即可将生成模型转化为 SOTA 通用视觉模型
• 无需修改底层架构、无需复杂多任务设计、无需判别式预训练
• 视觉任务输出被重新参数化为 RGB 图像，感知=生成 范式成立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914400"/>
            <a:ext cx="4297680" cy="53949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1920" y="914400"/>
            <a:ext cx="4297680" cy="347472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9509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HOW · 实现方法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1648" y="1371600"/>
            <a:ext cx="4096512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基础模型：Nano Banana Pro (NBP)，Google 最新 SOTA 图像生成器
• 将视觉任务输出空间映射至 RGB 图像：分割图、深度图、法线图等均以图像形式生成
• 指令微调：在 NBP 原始训练数据中混入极少量视觉任务数据（极低比例），不破坏生成能力
• 深度估计：使用严格可逆幂变换 (lambda=-3) 将无界深度值映射到 [0,255] RGB 空间
• 仅对输出格式进行指令引导，不添加任何视觉理解专用网络模块
• 推理时：给定任务描述和输入图像，模型直接生成对应格式的输出图像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914400"/>
            <a:ext cx="3566160" cy="53949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914400"/>
            <a:ext cx="3566160" cy="34747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9509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INSIGHT · 深度洞察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1371600"/>
            <a:ext cx="336499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▶ 何恺明+谢赛宁联合主导，信号极强：下一代视觉基础模型预训练范式将从判别式迁移至生成式
▶ 表征质量来自生成训练的隐式压力：模型必须理解场景才能生成正确像素，感知能力是副产品
▶ 轻量微调可迁移意味着：未来视觉 backbone 可能不再独立训练，直接从生成模型 freeze+微调
▶ 对产业影响：SAM/Depth Anything 系列的独立训练路线面临被统一底座取代的压力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4251960"/>
            <a:ext cx="3566160" cy="2057400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43159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C200"/>
                </a:solidFill>
              </a:rPr>
              <a:t>BENCHMARK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4617720"/>
            <a:ext cx="336499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C200"/>
                </a:solidFill>
              </a:rPr>
              <a:t>分割 mIoU (Cityscapes)：0.699  vs SAM3 的 0.652 (+4.7pt)
深度 delta1 (metric)：0.929  vs Depth Anything V3 的 0.918
T2I GenAI-Bench：53.5% win rate vs NBP
图像编辑 ImgEdit：47.8% win rate vs NBP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BBB"/>
                </a:solidFill>
              </a:rPr>
              <a:t>Claude Code + WebSearch  ·  2026-04-27  ·  数据以原始来源为准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88952" cy="749808"/>
          </a:xfrm>
          <a:prstGeom prst="rect">
            <a:avLst/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822960" cy="27432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82880"/>
            <a:ext cx="694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T2I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09728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Frequency-Forcing: From Scaling-as-Time to Soft Frequency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9377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BB"/>
                </a:solidFill>
              </a:rPr>
              <a:t>频率强制：从时间维度缩放到软频率引导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371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200"/>
                </a:solidFill>
              </a:rPr>
              <a:t>独立研究者  (Weitao Du)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43891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BB"/>
                </a:solidFill>
              </a:rPr>
              <a:t>arXiv: 2604.20902  ·  2026-04-21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914400"/>
            <a:ext cx="3566160" cy="53949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914400"/>
            <a:ext cx="3566160" cy="347472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9509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WHAT · 核心贡献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1371600"/>
            <a:ext cx="3364992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指出扩散/流匹配模型的核心缺陷：所有频率在单一同步时钟下去噪，导致频率耦合竞争
• 提出 Frequency-Forcing：在流匹配中引入显式频率生成顺序（低频→高频）
• 提供两种实现范式：K-Flow（硬频率约束）和 Latent Forcing（软频率引导）
• 理论基础：谱偏置 + 扩散轨迹的逆方差谱律 预测低频比高频快几个数量级学习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914400"/>
            <a:ext cx="4297680" cy="53949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1920" y="914400"/>
            <a:ext cx="4297680" cy="347472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9509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HOW · 实现方法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1648" y="1371600"/>
            <a:ext cx="4096512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K-Flow：将频率缩放变量 k 重解释为流时间，在变换后的幅度空间内运行轨迹，实现硬频率约束
• Latent Forcing：将像素流与辅助语义 latent 流通过异步时间调度耦合，像素插值路径不变
• 异步时间调度：latent flow 先于 pixel flow 收敛，语义结构在像素细节之前形成
• 训练时只需在标准 flow matching 框架上添加辅助 latent 目标，无需修改采样器
• 推理时频率引导通过 latent 约束自然施加，无额外推理开销
• 物理基础：神经网络谱偏置 + 扩散噪声的逆方差特性 = 频率分离的自然基础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914400"/>
            <a:ext cx="3566160" cy="53949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914400"/>
            <a:ext cx="3566160" cy="34747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9509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INSIGHT · 深度洞察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1371600"/>
            <a:ext cx="3364992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▶ 频率分离是图像生成的物理规律，强制执行它能消除梯度竞争，提升收敛稳定性
▶ Latent Forcing 的软约束思路可推广：任何有层次结构（粗糙→精细）的生成任务均可适用
▶ 与 Classifier-Free Guidance 类似，本质上是引入额外信号解耦生成难度
▶ 潜在影响：未来 DiT 架构可能内置频率感知的时间步调度策略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BBB"/>
                </a:solidFill>
              </a:rPr>
              <a:t>Claude Code + WebSearch  ·  2026-04-27  ·  数据以原始来源为准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88952" cy="749808"/>
          </a:xfrm>
          <a:prstGeom prst="rect">
            <a:avLst/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822960" cy="27432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82880"/>
            <a:ext cx="694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T2V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09728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Seedance 2.0: Advancing Video Generation for World Complexity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9377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BB"/>
                </a:solidFill>
              </a:rPr>
              <a:t>Seedance 2.0：推动视频生成应对复杂世界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371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FFAA"/>
                </a:solidFill>
              </a:rPr>
              <a:t>ByteDance Seed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43891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BB"/>
                </a:solidFill>
              </a:rPr>
              <a:t>arXiv: 2604.14148  ·  2026-04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914400"/>
            <a:ext cx="3566160" cy="53949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914400"/>
            <a:ext cx="3566160" cy="34747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9509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WHAT · 核心贡献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1371600"/>
            <a:ext cx="3364992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首个工业级统一多模态音视频联合生成模型，覆盖文/图/视/音四种输入模态
• 支持多模态参考输入：最多3视频+9图像+3音频，输出4-15秒、480p/720p
• 人体动作建模的自然度、时序一致性、物理合理性达到新高度
• 提供 Fast 加速变体，推理速度比标准版提升显著（低延迟场景专用）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914400"/>
            <a:ext cx="4297680" cy="53949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1920" y="914400"/>
            <a:ext cx="4297680" cy="347472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9509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HOW · 实现方法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1648" y="1371600"/>
            <a:ext cx="4096512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DiT 骨干：解耦空间层+时间层，空间层处理视觉+文本 token (MMDiT)，时间层仅处理视觉 token
• Causal 3D-VAE：因果卷积架构编解码器，时空联合压缩；支持图像和视频同框训练
• 统一任务公式：将 T2I/T2V/I2V 任务用二值掩码统一，noisy input 与条件帧拼接输入
• Multishot MM-RoPE：视觉 token 用 3D RoPE，文本 token 用 1D RoPE，支持多镜头生成
• 窗口分区 3D 自注意力：时间维因果链接各帧，时间层用专用窗口注意力模块
• 推理加速：窗口注意力 + KV cache 压缩，1080p 基准推理速度提升约 10x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914400"/>
            <a:ext cx="3566160" cy="53949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914400"/>
            <a:ext cx="3566160" cy="34747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9509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INSIGHT · 深度洞察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1371600"/>
            <a:ext cx="336499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▶ Seedance 2.0 是 ByteDance 在视频生成从'单模态'到'世界级多模态'的质变标志
▶ Causal 3D-VAE + MMDiT 组合已成为业界视频生成主流架构，Sora/HunyuanVideo 同路线
▶ 技术报告细节有限，但架构设计与 Seedance 1.0 一脉相承，规模+数据是核心差异
▶ 音视频联合生成意味着音轨不再是后处理附加，而是从 latent 空间共同建模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4251960"/>
            <a:ext cx="3566160" cy="2057400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43159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C200"/>
                </a:solidFill>
              </a:rPr>
              <a:t>BENCHMARK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4617720"/>
            <a:ext cx="336499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C200"/>
                </a:solidFill>
              </a:rPr>
              <a:t>Doubao 日均 token 消耗：&gt; 120 万亿
专家评测 &amp; 公开用户测试：业内领先
Runway API 接入：支持关键帧控制
Fast 变体：显著提速（具体数字未公开）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BBB"/>
                </a:solidFill>
              </a:rPr>
              <a:t>Claude Code + WebSearch  ·  2026-04-27  ·  数据以原始来源为准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88952" cy="749808"/>
          </a:xfrm>
          <a:prstGeom prst="rect">
            <a:avLst/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822960" cy="27432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82880"/>
            <a:ext cx="694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T2V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09728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Sparse Forcing: Native Trainable Sparse Attention for Real-time Autoregressive Diffusion Video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9377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BB"/>
                </a:solidFill>
              </a:rPr>
              <a:t>稀疏强制：实时自回归扩散视频生成的原生可训练稀疏注意力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371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9F43"/>
                </a:solidFill>
              </a:rPr>
              <a:t>学术联合团队 (Boxun Xu, Yuming Du et al.)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43891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BB"/>
                </a:solidFill>
              </a:rPr>
              <a:t>arXiv: 2604.21221  ·  2026-04-23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914400"/>
            <a:ext cx="3566160" cy="53949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914400"/>
            <a:ext cx="3566160" cy="347472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9509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WHAT · 核心贡献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1371600"/>
            <a:ext cx="3364992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自回归视频扩散的核心矛盾：长视频需要长 KV cache，但密集注意力代价随序列长方增长
• 提出 Sparse Forcing：可训练的原生稀疏注意力机制，与自回归扩散视频联合训练
• 同时解决两大问题：1）长视频质量（减少误差累积）2）实时解码延迟（稀疏计算）
• 关键观察：自回归扩散 rollout 中，注意力集中在持久性显著视觉块子集上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914400"/>
            <a:ext cx="4297680" cy="53949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1920" y="914400"/>
            <a:ext cx="4297680" cy="347472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9509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HOW · 实现方法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1648" y="1371600"/>
            <a:ext cx="4096512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核心洞察：注意力形成隐式时空记忆，在 KV cache 中呈现局部块稀疏模式
• 持久块 (Persistent Blocks)：识别跨时间步持续被高注意力的显著块，压缩保留于 cache
• 局部窗口约束：每个位置的计算限制在动态选择的局部邻域内，窗口内精确注意力
• 可训练稀疏性：稀疏模式不是预定义的，而是通过端到端训练学习得到
• memory update：持久块在生成过程中动态压缩与更新，保持全局一致性
• 推理时：稀疏 mask 直接应用于 KV cache，无需密集计算后再剪枝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914400"/>
            <a:ext cx="3566160" cy="53949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914400"/>
            <a:ext cx="3566160" cy="34747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9509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INSIGHT · 深度洞察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1371600"/>
            <a:ext cx="3364992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▶ 自回归视频扩散（如 Wan、CogVideoX 等）的核心工程瓶颈正是 KV cache 爆炸问题，本文给出训练级解法
▶ 与 Light Forcing（后处理稀疏化）的根本区别：Sparse Forcing 是原生训练，稀疏性是模型能力而非推理技巧
▶ 持久块的发现对注意力理论有意义：视频扩散中存在类似 Sink Token 的空间显著锚点
▶ 路径展望：该方法可与 Flash Attention 结合，进一步压缩实时视频生成的推理开销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BBB"/>
                </a:solidFill>
              </a:rPr>
              <a:t>Claude Code + WebSearch  ·  2026-04-27  ·  数据以原始来源为准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88952" cy="749808"/>
          </a:xfrm>
          <a:prstGeom prst="rect">
            <a:avLst/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822960" cy="2743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82880"/>
            <a:ext cx="694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Unified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09728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Omni-Diffusion: Unified Multimodal Understanding and Generation with Masked Discrete Diffusion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9377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BB"/>
                </a:solidFill>
              </a:rPr>
              <a:t>Omni-Diffusion：基于掩码离散扩散的统一多模态理解与生成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371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B86FC"/>
                </a:solidFill>
              </a:rPr>
              <a:t>VITA-MLLM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43891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BB"/>
                </a:solidFill>
              </a:rPr>
              <a:t>arXiv: 2603.06577  ·  2026-03-06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914400"/>
            <a:ext cx="3566160" cy="53949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914400"/>
            <a:ext cx="3566160" cy="34747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9509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WHAT · 核心贡献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1371600"/>
            <a:ext cx="3364992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首个完全基于掩码离散扩散（非自回归）的 any-to-any 多模态语言模型
• 统一文本、语音、图像三种模态的理解与生成，支持超二模态任务
• 彻底放弃自回归 token 预测，用联合掩码扩散建模多模态联合分布
• 首次将 LLaDA 等离散扩散范式扩展至真正的多模态统一生成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914400"/>
            <a:ext cx="4297680" cy="53949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1920" y="914400"/>
            <a:ext cx="4297680" cy="347472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9509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HOW · 实现方法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1648" y="1371600"/>
            <a:ext cx="4096512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核心框架：统一掩码离散扩散模型直接建模多模态 token 的联合分布 p(text, speech, image)
• 三阶段渐进训练：Stage1-单模态对齐 → Stage2-双模态对齐 → Stage3-全模态联合微调
• 衰减尾部-填充掩码策略 (Attenuated Tail-pad Masking)：解决离散扩散变长生成问题
• 推理创新 1：位置惩罚 (Position Penalty) 约束生成顺序、提升视觉质量
• 推理创新 2：特殊 token 预填充策略，改善语音对话任务性能
• 并行解码：掩码扩散天然支持非自回归并行 token 生成，速度远超自回归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914400"/>
            <a:ext cx="3566160" cy="53949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914400"/>
            <a:ext cx="3566160" cy="34747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9509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INSIGHT · 深度洞察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1371600"/>
            <a:ext cx="336499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▶ 离散掩码扩散是继'自回归LLM'和'连续扩散模型'之后的第三条统一路线，潜力被严重低估
▶ any-to-any 的核心是联合分布建模，自回归方法需要枚举条件方向，离散扩散天然无此限制
▶ 三阶段训练策略揭示多模态对齐的课程学习思路，对未来统一模型训练具有方法论参考价值
▶ 位置惩罚机制说明：无序并行解码需要显式约束防止质量退化，这是离散扩散的核心工程挑战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4251960"/>
            <a:ext cx="3566160" cy="2057400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43159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C200"/>
                </a:solidFill>
              </a:rPr>
              <a:t>BENCHMARK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4617720"/>
            <a:ext cx="336499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C200"/>
                </a:solidFill>
              </a:rPr>
              <a:t>超越或持平现有双模态+多模态系统
ASR / TTS / VQA / T2I 均有竞争力
语音-图像生成 &amp; 语音视觉理解首次覆盖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BBB"/>
                </a:solidFill>
              </a:rPr>
              <a:t>Claude Code + WebSearch  ·  2026-04-27  ·  数据以原始来源为准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88952" cy="749808"/>
          </a:xfrm>
          <a:prstGeom prst="rect">
            <a:avLst/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822960" cy="2743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82880"/>
            <a:ext cx="694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World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09728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HY-World 2.0: A Multi-Modal World Model for Reconstructing, Generating, and Simulating 3D Worlds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9377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BB"/>
                </a:solidFill>
              </a:rPr>
              <a:t>HY-World 2.0：用于重建/生成/仿真3D世界的多模态世界模型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371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6B6B"/>
                </a:solidFill>
              </a:rPr>
              <a:t>Tencent HY-World Team  (40+ 作者)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43891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BB"/>
                </a:solidFill>
              </a:rPr>
              <a:t>arXiv: 2604.14268  ·  2026-04-15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914400"/>
            <a:ext cx="3566160" cy="53949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914400"/>
            <a:ext cx="3566160" cy="34747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9509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WHAT · 核心贡献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1371600"/>
            <a:ext cx="3364992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首个开源 SOTA 3D 世界模型，四模态输入（文本/单视图图像/多视图/视频）→ 可导航 3DGS 场景
• 四阶段流水线：全景生成→轨迹规划→场景扩展→场景合成，端到端可导航3D世界
• 引入 WorldLens 高性能 3DGS 渲染平台：IBL 光照 + 碰撞检测 + 训练-渲染协同设计
• 全量开源：模型权重、代码、技术细节，对标并追平闭源商业模型 Marble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914400"/>
            <a:ext cx="4297680" cy="53949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1920" y="914400"/>
            <a:ext cx="4297680" cy="347472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9509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HOW · 实现方法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1648" y="1371600"/>
            <a:ext cx="4096512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Stage1 · HY-Pano 2.0：以文本/图像为输入生成高保真全景图，作为3D世界的语义蓝图
• Stage2 · WorldNav：场景解析增强的轨迹规划算法；全景点云→网格→语义掩码→导航网格→相机轨迹
• Stage3 · WorldStereo 2.0：关键帧空间内的可控视频模型（而非逐帧视频生成），引入一致性记忆机制；利用视频扩散先验大幅扩展可探索空间和视觉质量
• Stage4 · WorldMirror 2.0：将多视图关键帧合成为完整 3DGS 表征，支持实时渲染与交互
• WorldLens 渲染：自动 IBL 光照估计 + 高效碰撞检测 + 训练时渲染反馈闭环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914400"/>
            <a:ext cx="3566160" cy="53949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914400"/>
            <a:ext cx="3566160" cy="34747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9509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INSIGHT · 深度洞察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1371600"/>
            <a:ext cx="336499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▶ 关键设计选择：WorldStereo 2.0 在'关键帧空间'而非'视频帧序列'中生成，避免了视频扩散的时序误差积累
▶ 视频扩散先验被迁移至3D领域：这是扩散范式从2D像素空间到3D几何空间的里程碑式跨越
▶ 全景→轨迹→多视图→3DGS 的流水线代表了'渐进式几何感知'思路，与 NeRF/MVS 的经典流程一脉相承
▶ 全量开源策略表明腾讯的战略意图：通过开源建立3D世界模型标准，类比 Meta 的 Llama 策略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4251960"/>
            <a:ext cx="3566160" cy="2057400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43159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C200"/>
                </a:solidFill>
              </a:rPr>
              <a:t>BENCHMARK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4617720"/>
            <a:ext cx="336499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C200"/>
                </a:solidFill>
              </a:rPr>
              <a:t>开源 SOTA，媲美闭源 Marble
多项 benchmark 最优（开源范围内）
全景 / 深度 / 新视角合成均达标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BBB"/>
                </a:solidFill>
              </a:rPr>
              <a:t>Claude Code + WebSearch  ·  2026-04-27  ·  数据以原始来源为准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0C8FF"/>
                </a:solidFill>
              </a:rPr>
              <a:t>横向对比  ·  今日核心趋势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822960"/>
            <a:ext cx="7315200" cy="557784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68680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8FF"/>
                </a:solidFill>
              </a:rPr>
              <a:t>六篇论文横向对比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34440"/>
            <a:ext cx="7315200" cy="347472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2618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C200"/>
                </a:solidFill>
              </a:rPr>
              <a:t>论文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4831" y="12618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C200"/>
                </a:solidFill>
              </a:rPr>
              <a:t>范式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26187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C200"/>
                </a:solidFill>
              </a:rPr>
              <a:t>核心突破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9008" y="12618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C200"/>
                </a:solidFill>
              </a:rPr>
              <a:t>影响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581912"/>
            <a:ext cx="54864" cy="34747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63677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C8FF"/>
                </a:solidFill>
              </a:rPr>
              <a:t>Vision Banana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1" y="16367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T2I 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63677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生成预训练=视觉通用基础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4728" y="163677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改变视觉backbone训练范式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929384"/>
            <a:ext cx="7315200" cy="347472"/>
          </a:xfrm>
          <a:prstGeom prst="rect">
            <a:avLst/>
          </a:prstGeom>
          <a:solidFill>
            <a:srgbClr val="0E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1929384"/>
            <a:ext cx="54864" cy="347472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198424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200"/>
                </a:solidFill>
              </a:rPr>
              <a:t>Freq-Forcing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0551" y="19842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T2I 扩散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98424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频率显式引导低→高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24728" y="198424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扩散调度新思路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276856"/>
            <a:ext cx="54864" cy="34747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33172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FFAA"/>
                </a:solidFill>
              </a:rPr>
              <a:t>Seedance 2.0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30551" y="23317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T2V 工业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23317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四模态音视频联合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24728" y="233172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ByteDance视频旗舰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624328"/>
            <a:ext cx="7315200" cy="347472"/>
          </a:xfrm>
          <a:prstGeom prst="rect">
            <a:avLst/>
          </a:prstGeom>
          <a:solidFill>
            <a:srgbClr val="0E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" y="2624328"/>
            <a:ext cx="54864" cy="347472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267919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9F43"/>
                </a:solidFill>
              </a:rPr>
              <a:t>Sparse Forcing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30551" y="26791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T2V 效率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267919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原生可训稀疏注意力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4728" y="26791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实时自回归扩散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2971800"/>
            <a:ext cx="54864" cy="34747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302666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86FC"/>
                </a:solidFill>
              </a:rPr>
              <a:t>Omni-Diffusion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30551" y="302666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统一生成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302666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离散掩码扩散any-to-any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24728" y="30266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第三条统一路线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" y="3319272"/>
            <a:ext cx="7315200" cy="347472"/>
          </a:xfrm>
          <a:prstGeom prst="rect">
            <a:avLst/>
          </a:prstGeom>
          <a:solidFill>
            <a:srgbClr val="0E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2880" y="3319272"/>
            <a:ext cx="54864" cy="34747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33741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6B6B"/>
                </a:solidFill>
              </a:rPr>
              <a:t>HY-World 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30551" y="337413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世界模型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6120" y="337413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四阶段3D世界全开源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24728" y="337413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腾讯开源Marble级竞品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26679" y="822960"/>
            <a:ext cx="4251960" cy="557784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0" y="86868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B86FC"/>
                </a:solidFill>
              </a:rPr>
              <a:t>今日三大趋势信号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18120" y="1325880"/>
            <a:ext cx="4069080" cy="1554480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818120" y="1325880"/>
            <a:ext cx="64008" cy="15544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82712" y="141732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FF"/>
                </a:solidFill>
              </a:rPr>
              <a:t>生成=预训练 范式确立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82712" y="1801368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Vision Banana 证明：图像生成训练=视觉通用预训练。判别式 backbone 时代即将结束，未来视觉模型从生成模型直接指令微调。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20" y="3017520"/>
            <a:ext cx="4069080" cy="1554480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818120" y="3017520"/>
            <a:ext cx="64008" cy="15544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82712" y="31089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6B"/>
                </a:solidFill>
              </a:rPr>
              <a:t>世界模型跨维度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82712" y="3493008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HY-World 2.0 将视频扩散先验引入3D几何空间，Sparse Forcing 攻克实时自回归视频瓶颈——世界模型从2D走向可交互3D。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18120" y="4709160"/>
            <a:ext cx="4069080" cy="1554480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18120" y="4709160"/>
            <a:ext cx="64008" cy="155448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82712" y="48006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F43"/>
                </a:solidFill>
              </a:rPr>
              <a:t>效率竞争白热化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82712" y="5184648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Sparse Forcing + Frequency-Forcing 均指向同一问题：如何在不牺牲质量的前提下让扩散/流匹配更快。下一个战场是效率。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BBB"/>
                </a:solidFill>
              </a:rPr>
              <a:t>Claude Code + WebSearch  ·  2026-04-27  ·  数据以原始来源为准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6B6B"/>
                </a:solidFill>
              </a:rPr>
              <a:t>行业动态  ·  编辑观察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14400"/>
            <a:ext cx="3749039" cy="1261872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914400"/>
            <a:ext cx="64008" cy="126187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005840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8FF"/>
                </a:solidFill>
              </a:rPr>
              <a:t>Anthropic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298448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Claude Opus 4.7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572768"/>
            <a:ext cx="3520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BB"/>
                </a:solidFill>
              </a:rPr>
              <a:t>SWE-bench Pro 64.3%，xhigh effort，$5/$25/M tokens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59" y="914400"/>
            <a:ext cx="3749039" cy="1261872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59" y="914400"/>
            <a:ext cx="64008" cy="1261872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87951" y="1005840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A37F"/>
                </a:solidFill>
              </a:rPr>
              <a:t>OpenAI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1" y="1298448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GPT-Rosalind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1" y="1572768"/>
            <a:ext cx="3520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BB"/>
                </a:solidFill>
              </a:rPr>
              <a:t>生物/药物发现专用推理模型，BixBench 0.751 pass@1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38" y="914400"/>
            <a:ext cx="3749039" cy="1261872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38" y="914400"/>
            <a:ext cx="64008" cy="126187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0" y="1005840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FAA"/>
                </a:solidFill>
              </a:rPr>
              <a:t>ByteDance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0" y="1298448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Doubao MaaS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0" y="1572768"/>
            <a:ext cx="3520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BB"/>
                </a:solidFill>
              </a:rPr>
              <a:t>日均 Token &gt;120万亿，2026 营收目标 RMB &gt;100亿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2331720"/>
            <a:ext cx="3749039" cy="1261872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" y="2331720"/>
            <a:ext cx="64008" cy="126187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2423160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6B"/>
                </a:solidFill>
              </a:rPr>
              <a:t>Tencent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" y="2715768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HY-World 2.0 开源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2990088"/>
            <a:ext cx="3520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BB"/>
                </a:solidFill>
              </a:rPr>
              <a:t>3D世界模型全量开源，追平闭源 Marble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59" y="2331720"/>
            <a:ext cx="3749039" cy="1261872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23359" y="2331720"/>
            <a:ext cx="64008" cy="1261872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87951" y="2423160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F43"/>
                </a:solidFill>
              </a:rPr>
              <a:t>Runway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87951" y="2715768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Seedance 2.0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87951" y="2990088"/>
            <a:ext cx="3520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BB"/>
                </a:solidFill>
              </a:rPr>
              <a:t>关键帧控制+多模态参考，4-15秒生成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38" y="2331720"/>
            <a:ext cx="3749039" cy="1261872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63838" y="2331720"/>
            <a:ext cx="64008" cy="126187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28430" y="2423160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B86FC"/>
                </a:solidFill>
              </a:rPr>
              <a:t>中国AI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8430" y="2715768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GLM-5.1 MIT协议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8430" y="2990088"/>
            <a:ext cx="3520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BB"/>
                </a:solidFill>
              </a:rPr>
              <a:t>最强开源 Coding 模型之一，MiniMax M2.7 在线自进化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3858768"/>
            <a:ext cx="11795760" cy="2542032"/>
          </a:xfrm>
          <a:prstGeom prst="rect">
            <a:avLst/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913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8FF"/>
                </a:solidFill>
              </a:rPr>
              <a:t>编辑观察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4251960"/>
            <a:ext cx="54864" cy="5486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42519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生成式预训练将取代判别式：Vision Banana 是转折点信号，视觉领域的'GPT 时刻'已来临，未来视觉 backbone 预训练范式将被重写。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4910328"/>
            <a:ext cx="54864" cy="5486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49103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3D 世界模型是下一战场：HY-World 2.0 + Sparse Forcing 共同指向可导航、实时、物理合理的3D世界生成——自动驾驶/具身智能的基础设施级机会。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5568696"/>
            <a:ext cx="54864" cy="54864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8" y="5568696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效率是隐形主战场：Frequency-Forcing / Sparse Forcing 均在攻克速度瓶颈。谁先把扩散模型跑到实时，谁就掌握 Consumer 端的部署权。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